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SE Sans"/>
          <a:ea typeface="HSE Sans"/>
          <a:cs typeface="HSE San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HSE Sans"/>
          <a:ea typeface="HSE Sans"/>
          <a:cs typeface="HSE San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HSE Sans"/>
          <a:ea typeface="HSE Sans"/>
          <a:cs typeface="HSE San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HSE Sans"/>
          <a:ea typeface="HSE Sans"/>
          <a:cs typeface="HSE San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HSE Sans"/>
          <a:ea typeface="HSE Sans"/>
          <a:cs typeface="HSE San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HSE Sans"/>
          <a:ea typeface="HSE Sans"/>
          <a:cs typeface="HSE San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HSE Sans"/>
          <a:ea typeface="HSE Sans"/>
          <a:cs typeface="HSE San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HSE Sans"/>
          <a:ea typeface="HSE Sans"/>
          <a:cs typeface="HSE San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HSE Sans"/>
          <a:ea typeface="HSE Sans"/>
          <a:cs typeface="HSE San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HSE Sans"/>
          <a:ea typeface="HSE Sans"/>
          <a:cs typeface="HSE Sans"/>
        </a:defRPr>
      </a:lvl9pPr>
    </p:bodyStyle>
    <p:otherStyle>
      <a:defPPr>
        <a:defRPr lang="en-US">
          <a:latin typeface="HSE Sans"/>
          <a:ea typeface="HSE Sans"/>
          <a:cs typeface="HSE Sa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HSE Sans"/>
          <a:ea typeface="HSE Sans"/>
          <a:cs typeface="HSE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6-image-1.jpe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960120"/>
            <a:ext cx="886968" cy="8869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9904" y="987552"/>
            <a:ext cx="0" cy="841248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8641080" y="987552"/>
            <a:ext cx="0" cy="841248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183112" y="987552"/>
            <a:ext cx="0" cy="841248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075688" y="1188720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Факультет информатики, математики и компьютерных наук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63640" y="1170432"/>
            <a:ext cx="2276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Бизнес-информатика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87384" y="1170432"/>
            <a:ext cx="2221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Нижний Новгород,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4128" y="2103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i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Выпускная квалификационная работа бакалавра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2404872"/>
            <a:ext cx="105156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38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1024128" y="4846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b="1"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Автор:</a:t>
            </a:r>
            <a:r>
              <a:rPr b="0"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 Досталев А. А.,   группа 22БИ-1</a:t>
            </a:r>
            <a:endParaRPr lang="en-US" sz="1600" dirty="0"/>
          </a:p>
          <a:p>
            <a:r>
              <a:rPr b="1"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Научный руководитель:</a:t>
            </a:r>
            <a:r>
              <a:rPr b="0"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 Солдатова А. 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1. Актуальность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" y="144475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Актуальность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072" y="25603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2,5×</a:t>
            </a:r>
            <a:endParaRPr lang="en-US" sz="8000" dirty="0"/>
          </a:p>
        </p:txBody>
      </p:sp>
      <p:sp>
        <p:nvSpPr>
          <p:cNvPr id="14" name="Text 11"/>
          <p:cNvSpPr/>
          <p:nvPr/>
        </p:nvSpPr>
        <p:spPr>
          <a:xfrm>
            <a:off x="576072" y="4105656"/>
            <a:ext cx="2761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Рост глобального рынка краудфандинга к 2033 г. (с $18,4 до $46,4 млрд, CAGR 10,8%)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50792" y="25603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8×</a:t>
            </a:r>
            <a:endParaRPr lang="en-US" sz="8000" dirty="0"/>
          </a:p>
        </p:txBody>
      </p:sp>
      <p:sp>
        <p:nvSpPr>
          <p:cNvPr id="16" name="Text 13"/>
          <p:cNvSpPr/>
          <p:nvPr/>
        </p:nvSpPr>
        <p:spPr>
          <a:xfrm>
            <a:off x="4050792" y="4105656"/>
            <a:ext cx="2761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Рост рынка инвестиционных платформ РФ за 4 года — до 54 млрд ₽ в 2024 г.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16368" y="25603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</a:t>
            </a:r>
            <a:endParaRPr lang="en-US" sz="8000" dirty="0"/>
          </a:p>
        </p:txBody>
      </p:sp>
      <p:sp>
        <p:nvSpPr>
          <p:cNvPr id="18" name="Text 15"/>
          <p:cNvSpPr/>
          <p:nvPr/>
        </p:nvSpPr>
        <p:spPr>
          <a:xfrm>
            <a:off x="7516368" y="4105656"/>
            <a:ext cx="2761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Web2-платформ (Kickstarter, Planeta, Boomstarter) с поэтапным контролем расходования средств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5216" y="5806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Блокчейн и смарт-контракты </a:t>
            </a:r>
            <a:pPr indent="0" marL="0"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позволяют реализовать milestone-эскроу — прозрачный, автоматический и неотменяемый контроль расходования средств, недостижимый в Web2-архитектуре.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2. Цель и задачи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" y="144475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Цель и задачи работы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5216" y="2340000"/>
            <a:ext cx="11055096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b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Цель.  Разработать алгоритм и прототип краудфандинговой платформы с milestone-эскроу и поэтапным голосованием инвесторов за разблокировку средств.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6072" y="347472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Анализ (1–4)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6072" y="3840480"/>
            <a:ext cx="2761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Анализ рынка Web2-краудфандинга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Обзор научной литературы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Систематизация проблем (Исикава)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Анализ стейкхолдеров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50792" y="347472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Проектирование (5–8)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50792" y="3840480"/>
            <a:ext cx="2761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Модель AS-IS (BPMN 2.0)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Требования (MoSCoW)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Модель TO-BE + верификация (SPIN)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Алгоритм смарт-контрактов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16368" y="347472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Реализация (9–10)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16368" y="3840480"/>
            <a:ext cx="2761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Архитектура и структура данных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Прототип и оценка результата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4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3. Объект, предмет, методы, новизна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" y="144475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Объект, предмет, методы, новизна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000" y="2304000"/>
            <a:ext cx="5364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b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Объект.  </a:t>
            </a:r>
            <a:r>
              <a:rPr b="0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Процесс коллективного инвестирования в проекты.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999" y="2304000"/>
            <a:ext cx="540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b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Предмет.  </a:t>
            </a:r>
            <a:r>
              <a:rPr b="0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Краудфандинговая платформа на блокчейне, обеспечивающая прозрачность и поэтапный контроль расходования средств.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6000" y="3491999"/>
            <a:ext cx="5364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b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Методы.  </a:t>
            </a:r>
            <a:r>
              <a:rPr b="0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BPMN 2.0 · Диаграмма Исикавы · Матрица Mendelow · MoSCoW · Model checker SPIN · Прототипирование.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999" y="3491999"/>
            <a:ext cx="540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b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Научная новизна.  </a:t>
            </a:r>
            <a:r>
              <a:rPr b="0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Алгоритм платформы, объединяющий смарт-контракты, голосование держателей токенов и атомарную разблокировку бюджета этапов в единую логику работы фонда.</a:t>
            </a:r>
            <a:endParaRPr lang="en-US" sz="1300" dirty="0"/>
          </a:p>
        </p:txBody>
      </p:sp>
      <p:sp>
        <p:nvSpPr>
          <p:cNvPr id="17" name="TextBox 16"/>
          <p:cNvSpPr txBox="1"/>
          <p:nvPr/>
        </p:nvSpPr>
        <p:spPr>
          <a:xfrm>
            <a:off x="576000" y="4752000"/>
            <a:ext cx="110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Достоверность.  </a:t>
            </a:r>
            <a:r>
              <a:rPr b="0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Формальная верификация BPMN-моделей через model checker SPIN, unit-тестирование смарт-контрактов с покрытием 94% по строкам, сквозной E2E-сценарий и сопоставление характеристик решения с существующими платформами по критериям из научной литературы.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4. Результаты (гл. 1–2)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" y="144475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Результаты: анализ и проектирование процесса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5216" y="2377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Глава 1. Анализ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" y="2736000"/>
            <a:ext cx="534924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8 платформ Web2/Web3 проанализировано · диаграмма Исикавы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4 группы стейкхолдеров (Mendelow) · 7 принципов Guggenberger</a:t>
            </a:r>
          </a:p>
        </p:txBody>
      </p:sp>
      <p:pic>
        <p:nvPicPr>
          <p:cNvPr id="15" name="Image 1" descr="/home/claude/diagrams/mendelow_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99" y="3671999"/>
            <a:ext cx="4140000" cy="2520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7999" y="6228000"/>
            <a:ext cx="414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Матрица Mendelow: ключевые стейкхолдеры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63640" y="237744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Глава 2. Процесс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63640" y="2736000"/>
            <a:ext cx="5385816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BPMN AS-IS и TO-BE на 2 уровнях (Silver)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5 узких мест устранены · 12 ФТ + 10 НФТ · верификация SPIN</a:t>
            </a:r>
          </a:p>
        </p:txBody>
      </p:sp>
      <p:pic>
        <p:nvPicPr>
          <p:cNvPr id="19" name="Image 2" descr="/home/claude/diagrams/bpmn_renders/bpmn_to_be_l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999" y="3671999"/>
            <a:ext cx="3240000" cy="2520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43999" y="6228000"/>
            <a:ext cx="324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BPMN TO-BE, уровень L2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5. Результаты (гл. 3)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" y="144475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Результаты: архитектура и прототип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5216" y="2304000"/>
            <a:ext cx="10972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b="0" sz="13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Гибридная двухслойная архитектура: Web2-интерфейс для пользователя + Web3-ядро (смарт-контракты). Платформа не хранит средства пользователей — все активы и голоса находятся on-chain.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63999" y="3060000"/>
            <a:ext cx="54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Эффект для экосистемы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999" y="3420000"/>
          <a:ext cx="5400000" cy="2520000"/>
        </p:xfrm>
        <a:graphic>
          <a:graphicData uri="http://schemas.openxmlformats.org/drawingml/2006/table">
            <a:tbl>
              <a:tblPr/>
              <a:tblGrid>
                <a:gridCol w="1874520"/>
                <a:gridCol w="146304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Web2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Платформа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Комиссия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5–15%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1–3%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Скорость выплат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3–14 дней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1–14 сек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Прозрачность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100% on-chain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Ликвидность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ERC-1155</a:t>
                      </a:r>
                      <a:endParaRPr lang="en-US" sz="1200" dirty="0">
                        <a:latin typeface="HSE Sans" charset="0"/>
                        <a:ea typeface="HSE Sans" charset="0"/>
                        <a:cs typeface="HSE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951999"/>
            <a:ext cx="5220000" cy="277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6000" y="5742000"/>
            <a:ext cx="52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44546A"/>
                </a:solidFill>
                <a:latin typeface="HSE Sans"/>
                <a:ea typeface="HSE Sans"/>
                <a:cs typeface="HSE Sans"/>
              </a:rPr>
              <a:t>Концептуальная архитектура платформы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7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6. Прототип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576000" y="1440000"/>
            <a:ext cx="110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0F2C68"/>
                </a:solidFill>
                <a:latin typeface="HSE Sans"/>
                <a:ea typeface="HSE Sans"/>
                <a:cs typeface="HSE Sans"/>
              </a:rPr>
              <a:t>Прототип платформы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2520000"/>
            <a:ext cx="4176000" cy="3240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000" y="2520000"/>
            <a:ext cx="2988000" cy="324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0000" y="5868000"/>
            <a:ext cx="41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44546A"/>
                </a:solidFill>
                <a:latin typeface="HSE Sans"/>
                <a:ea typeface="HSE Sans"/>
                <a:cs typeface="HSE Sans"/>
              </a:rPr>
              <a:t>Каталог кампаний на блокчейне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0" y="5868000"/>
            <a:ext cx="29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44546A"/>
                </a:solidFill>
                <a:latin typeface="HSE Sans"/>
                <a:ea typeface="HSE Sans"/>
                <a:cs typeface="HSE Sans"/>
              </a:rPr>
              <a:t>Активная кампания: голосование инвесторов по этапу</a:t>
            </a:r>
          </a:p>
        </p:txBody>
      </p:sp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66344"/>
            <a:ext cx="448056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00984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099048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277856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640312" y="466344"/>
            <a:ext cx="0" cy="585216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05872" y="5303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5394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Факультет ИМиКН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56432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Предзащита ВКР · 22БИ-1 ·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5486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7. Заключение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Разработка алгоритма и прототипа краудфандинговой платформы на основе блокчейн-технологий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" y="144475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Заключение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052000" y="25603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10</a:t>
            </a:r>
            <a:endParaRPr lang="en-US" sz="8000" dirty="0"/>
          </a:p>
        </p:txBody>
      </p:sp>
      <p:sp>
        <p:nvSpPr>
          <p:cNvPr id="14" name="Text 11"/>
          <p:cNvSpPr/>
          <p:nvPr/>
        </p:nvSpPr>
        <p:spPr>
          <a:xfrm>
            <a:off x="2052000" y="410565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Достигнуто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052000" y="443484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30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Все 10 задач работы выполнены. Разработан и протестирован рабочий прототип платформы.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80000" y="256032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7</a:t>
            </a:r>
            <a:endParaRPr lang="en-US" sz="8000" dirty="0"/>
          </a:p>
        </p:txBody>
      </p:sp>
      <p:sp>
        <p:nvSpPr>
          <p:cNvPr id="17" name="Text 14"/>
          <p:cNvSpPr/>
          <p:nvPr/>
        </p:nvSpPr>
        <p:spPr>
          <a:xfrm>
            <a:off x="7380000" y="410565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Принципов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80000" y="443484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D69"/>
                </a:solidFill>
                <a:latin typeface="HSE Sans"/>
                <a:ea typeface="HSE Sans"/>
                <a:cs typeface="HSE Sans"/>
              </a:rPr>
              <a:t>Guggenberger (2023) реализованы в концепции — полное покрытие требований Web3-краудфандинга.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85216" y="5806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b="1" sz="1300">
                <a:solidFill>
                  <a:srgbClr val="102D69"/>
                </a:solidFill>
                <a:latin typeface="HSE Sans"/>
              </a:rPr>
              <a:t>Перспективы:</a:t>
            </a:r>
            <a:r>
              <a:rPr b="0" sz="1300">
                <a:solidFill>
                  <a:srgbClr val="102D69"/>
                </a:solidFill>
                <a:latin typeface="HSE Sans"/>
              </a:rPr>
              <a:t> специализированные контракты (Debt · RevenueShare · Dividend) · вторичный рынок на DEX · международная локализация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532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b="1" sz="1100">
                <a:solidFill>
                  <a:srgbClr val="0E2D69"/>
                </a:solidFill>
                <a:latin typeface="HSE Sans"/>
              </a:rPr>
              <a:t>Репозиторий:</a:t>
            </a:r>
            <a:r>
              <a:rPr b="0" sz="1100">
                <a:solidFill>
                  <a:srgbClr val="0E2D69"/>
                </a:solidFill>
                <a:latin typeface="HSE Sans"/>
              </a:rPr>
              <a:t>  github.com/artemdost/vkr-crowdfund-platform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SE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SE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ВКР: Краудфандинговая платформа на блокчейне</dc:title>
  <dc:subject>PptxGenJS Presentation</dc:subject>
  <dc:creator>Достоев А. В.</dc:creator>
  <cp:lastModifiedBy>Достоев А. В.</cp:lastModifiedBy>
  <cp:revision>1</cp:revision>
  <dcterms:created xsi:type="dcterms:W3CDTF">2026-04-24T16:11:25Z</dcterms:created>
  <dcterms:modified xsi:type="dcterms:W3CDTF">2026-04-24T16:11:25Z</dcterms:modified>
</cp:coreProperties>
</file>